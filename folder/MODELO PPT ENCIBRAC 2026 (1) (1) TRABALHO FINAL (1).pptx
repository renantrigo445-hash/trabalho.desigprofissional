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comment1.xml" ContentType="application/vnd.openxmlformats-officedocument.presentationml.comments+xml"/>
  <Override PartName="/ppt/comments/comment2.xml" ContentType="application/vnd.openxmlformats-officedocument.presentationml.comments+xml"/>
  <Override PartName="/ppt/comments/comment3.xml" ContentType="application/vnd.openxmlformats-officedocument.presentationml.comments+xml"/>
  <Override PartName="/ppt/comments/comment4.xml" ContentType="application/vnd.openxmlformats-officedocument.presentationml.comments+xml"/>
  <Override PartName="/ppt/comments/comment5.xml" ContentType="application/vnd.openxmlformats-officedocument.presentationml.comments+xml"/>
  <Override PartName="/ppt/comments/comment6.xml" ContentType="application/vnd.openxmlformats-officedocument.presentationml.comments+xml"/>
  <Override PartName="/ppt/comments/comment7.xml" ContentType="application/vnd.openxmlformats-officedocument.presentationml.comments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3"/>
  </p:sldMasterIdLst>
  <p:sldIdLst>
    <p:sldId id="256" r:id="rId4"/>
    <p:sldId id="257" r:id="rId5"/>
    <p:sldId id="258" r:id="rId6"/>
    <p:sldId id="267" r:id="rId7"/>
    <p:sldId id="262" r:id="rId8"/>
    <p:sldId id="263" r:id="rId9"/>
    <p:sldId id="266" r:id="rId10"/>
    <p:sldId id="264" r:id="rId11"/>
    <p:sldId id="265" r:id="rId12"/>
    <p:sldId id="259" r:id="rId13"/>
    <p:sldId id="261" r:id="rId14"/>
  </p:sldIdLst>
  <p:sldSz cx="12192000" cy="6858000"/>
  <p:notesSz cx="6858000" cy="9144000"/>
  <p:defaultTextStyle>
    <a:defPPr>
      <a:defRPr lang="pt-B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RENATA" initials="R" lastIdx="1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DA2EC0E-3A60-4B0B-A9BF-3CB2279CC864}" v="28" dt="2025-05-22T21:51:34.2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commentAuthors" Target="commentAuthors.xml"/><Relationship Id="rId10" Type="http://schemas.openxmlformats.org/officeDocument/2006/relationships/slide" Target="slides/slide7.xml"/><Relationship Id="rId19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4:32.123" idx="4">
    <p:pos x="3004" y="382"/>
    <p:text>Problemática
Justificativa
Objetivo Geral
Objetivos Específicos</p:tex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4:32.123" idx="10">
    <p:pos x="3004" y="382"/>
    <p:text>Problemática
Justificativa
Objetivo Geral
Objetivos Específicos</p:tex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5:59.687" idx="5">
    <p:pos x="6774" y="708"/>
    <p:text>NÃO MUDAR ESSA FRASE: é uma abordagem qualitativa, de natureza teórica, sem procedimentos práticos e baseados em referenciais teóricos.</p:text>
  </p:cm>
</p:cmLst>
</file>

<file path=ppt/comments/comment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9:15.731" idx="6">
    <p:pos x="2904" y="408"/>
    <p:text>considerar o principal pesquisador da temática e seus trabalhos científicos publicados. 
Considera-se também a importância do tema para a sociedade em geral. 
Espera-se ainda no desenvolvimento a apresentação de uma lacuna existente na atualidade pela ausência da aplicabilidade da temática pesquisada. 
tópicos do que será explicado (tema)</p:text>
  </p:cm>
</p:cmLst>
</file>

<file path=ppt/comments/comment5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9:15.731" idx="7">
    <p:pos x="2904" y="408"/>
    <p:text>considerar o principal pesquisador da temática e seus trabalhos científicos publicados. 
Considera-se também a importância do tema para a sociedade em geral. 
Espera-se ainda no desenvolvimento a apresentação de uma lacuna existente na atualidade pela ausência da aplicabilidade da temática pesquisada. 
tópicos do que será explicado (tema)</p:text>
  </p:cm>
</p:cmLst>
</file>

<file path=ppt/comments/comment6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4:01:17.556" idx="8">
    <p:pos x="4500" y="846"/>
    <p:text>Relevância da pesquisa
Proposição de outros estudos e dos estudos práticos (desenvolvimento do sistema)</p:text>
  </p:cm>
</p:cmLst>
</file>

<file path=ppt/comments/comment7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4:02:14.520" idx="9">
    <p:pos x="3404" y="394"/>
    <p:text>As utilizadas no resumo
somentes as citadas no resumo. No formato ABNT</p:tex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B54BF1D-9063-4BEE-8C72-9172F3A10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60633D-40BE-4823-9D70-E90BB7E20D1C}" type="datetimeFigureOut">
              <a:rPr lang="pt-BR"/>
              <a:pPr>
                <a:defRPr/>
              </a:pPr>
              <a:t>08/10/2026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369E3E4-B284-4FE0-B385-0F8C00EF3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C5AF429-F4C5-4AE9-85EC-F9081058D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376E9B-F499-4203-B2B7-B90579D709D2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20838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809E057-8CC4-4B72-9DC1-A31421810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4E774B-487E-45DD-9EDF-6BED9A23258C}" type="datetimeFigureOut">
              <a:rPr lang="pt-BR"/>
              <a:pPr>
                <a:defRPr/>
              </a:pPr>
              <a:t>08/10/2026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8A54BED-FCEE-4716-B9AD-92F175B41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460C75F-45BA-47EC-BF95-DB68E04D4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504699-A3AE-447D-826C-41FBB7146ADA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40769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0680335-1A72-4BAF-9C76-726DB6793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E496CB-9C79-4F24-8900-BEAF2F43C272}" type="datetimeFigureOut">
              <a:rPr lang="pt-BR"/>
              <a:pPr>
                <a:defRPr/>
              </a:pPr>
              <a:t>08/10/2026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94608FB-BD3D-43E9-987C-7A569FA60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1923D7B-8A56-4460-BE44-AECAC8F96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E72C3A-DFB6-4362-8AA1-77746B1B40DB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93341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81376A55-6023-45D0-B48D-15049DA29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73C6A4-A5A0-4D45-846F-65CCFFEEC21A}" type="datetimeFigureOut">
              <a:rPr lang="pt-BR"/>
              <a:pPr>
                <a:defRPr/>
              </a:pPr>
              <a:t>08/10/2026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4080E98E-C07A-4400-8991-186F4B90F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15AC8817-6596-40C4-A8E0-8FFAC94E2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E2781E-1EB2-4E16-A791-F5211820C14C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51018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3">
            <a:extLst>
              <a:ext uri="{FF2B5EF4-FFF2-40B4-BE49-F238E27FC236}">
                <a16:creationId xmlns:a16="http://schemas.microsoft.com/office/drawing/2014/main" id="{2861D758-1FE0-4971-BE41-9F6028AAC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22D825-50E8-407D-964F-390DD4A6EBBE}" type="datetimeFigureOut">
              <a:rPr lang="pt-BR"/>
              <a:pPr>
                <a:defRPr/>
              </a:pPr>
              <a:t>08/10/2026</a:t>
            </a:fld>
            <a:endParaRPr lang="pt-BR"/>
          </a:p>
        </p:txBody>
      </p:sp>
      <p:sp>
        <p:nvSpPr>
          <p:cNvPr id="8" name="Espaço Reservado para Rodapé 4">
            <a:extLst>
              <a:ext uri="{FF2B5EF4-FFF2-40B4-BE49-F238E27FC236}">
                <a16:creationId xmlns:a16="http://schemas.microsoft.com/office/drawing/2014/main" id="{DE358DC8-9B77-498D-8753-A078F1212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9" name="Espaço Reservado para Número de Slide 5">
            <a:extLst>
              <a:ext uri="{FF2B5EF4-FFF2-40B4-BE49-F238E27FC236}">
                <a16:creationId xmlns:a16="http://schemas.microsoft.com/office/drawing/2014/main" id="{2CE94B5D-1616-4C55-A89B-40ECCC078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2693F5-9C85-43CB-B7E0-FB01AAC861D4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30518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3">
            <a:extLst>
              <a:ext uri="{FF2B5EF4-FFF2-40B4-BE49-F238E27FC236}">
                <a16:creationId xmlns:a16="http://schemas.microsoft.com/office/drawing/2014/main" id="{BA2D40DB-7005-4836-B972-A18333792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B099B0-8A28-4091-9FCE-463505D2C396}" type="datetimeFigureOut">
              <a:rPr lang="pt-BR"/>
              <a:pPr>
                <a:defRPr/>
              </a:pPr>
              <a:t>08/10/2026</a:t>
            </a:fld>
            <a:endParaRPr lang="pt-BR"/>
          </a:p>
        </p:txBody>
      </p:sp>
      <p:sp>
        <p:nvSpPr>
          <p:cNvPr id="4" name="Espaço Reservado para Rodapé 4">
            <a:extLst>
              <a:ext uri="{FF2B5EF4-FFF2-40B4-BE49-F238E27FC236}">
                <a16:creationId xmlns:a16="http://schemas.microsoft.com/office/drawing/2014/main" id="{8A1047F2-59FB-44FD-BD83-11D13BCAE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Espaço Reservado para Número de Slide 5">
            <a:extLst>
              <a:ext uri="{FF2B5EF4-FFF2-40B4-BE49-F238E27FC236}">
                <a16:creationId xmlns:a16="http://schemas.microsoft.com/office/drawing/2014/main" id="{AB6F6D58-2A68-431F-BD29-0AD166C30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D1B0F8-74DD-4CFD-9ECB-AEA8D334A809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9574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3">
            <a:extLst>
              <a:ext uri="{FF2B5EF4-FFF2-40B4-BE49-F238E27FC236}">
                <a16:creationId xmlns:a16="http://schemas.microsoft.com/office/drawing/2014/main" id="{4DCEA456-5F93-42B8-90D3-B80767151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7A9671-140B-4CAD-94EE-9C8FE680A172}" type="datetimeFigureOut">
              <a:rPr lang="pt-BR"/>
              <a:pPr>
                <a:defRPr/>
              </a:pPr>
              <a:t>08/10/2026</a:t>
            </a:fld>
            <a:endParaRPr lang="pt-BR"/>
          </a:p>
        </p:txBody>
      </p:sp>
      <p:sp>
        <p:nvSpPr>
          <p:cNvPr id="3" name="Espaço Reservado para Rodapé 4">
            <a:extLst>
              <a:ext uri="{FF2B5EF4-FFF2-40B4-BE49-F238E27FC236}">
                <a16:creationId xmlns:a16="http://schemas.microsoft.com/office/drawing/2014/main" id="{D4872FA2-4B83-4B64-8CCD-4099798E4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2DF0C6A5-97D8-446D-8FB0-32AFAFF2C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73105E-A30B-4646-AAA3-D14AC42A7546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8401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5C0CF51B-150F-4068-9B69-BE5A440BF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62EE6E-4B83-4D73-9FEE-DE8B52599F73}" type="datetimeFigureOut">
              <a:rPr lang="pt-BR"/>
              <a:pPr>
                <a:defRPr/>
              </a:pPr>
              <a:t>08/10/2026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6E956705-34F3-4C04-8055-8FC6BB755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A4CA0301-8D71-4A14-AF5C-73E8B5D29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B0A42F-E3C1-4FE4-BAB8-FE2E13519CFD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009930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C6A6CFAF-0039-4742-BF82-6A3297D59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D17BCC-C147-4A22-9D3F-1A183D22AB45}" type="datetimeFigureOut">
              <a:rPr lang="pt-BR"/>
              <a:pPr>
                <a:defRPr/>
              </a:pPr>
              <a:t>08/10/2026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7001FB79-1E19-4F7F-AABA-F8DD36486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027E90B3-6B96-499F-B52E-480CED0BB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984595-D2D9-4499-BBBF-2895162EC21B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43836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8837088-123D-4E52-B5EE-F08245DEC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C92DF3-17FE-4197-A72D-5EC4B2ABA984}" type="datetimeFigureOut">
              <a:rPr lang="pt-BR"/>
              <a:pPr>
                <a:defRPr/>
              </a:pPr>
              <a:t>08/10/2026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2B51A36-6804-4661-B7CE-7F1051459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3EA23DC-5335-4790-8FE8-A9D877E7A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9F0D61-2AED-4ECA-9E41-BCE1FB0F7CE2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179678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5577FD3-66D5-44AA-9AEA-1638DCFEC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FADCA3-6B48-42C4-B0DF-65A35F6686A5}" type="datetimeFigureOut">
              <a:rPr lang="pt-BR"/>
              <a:pPr>
                <a:defRPr/>
              </a:pPr>
              <a:t>08/10/2026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220080C-E1B6-48A7-AAA3-3B83BC5E9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80622DC-C128-40FE-9C25-D2F199A09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654256-EFD0-4C01-8578-2EF66A3C4349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79957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Espaço Reservado para Título 1">
            <a:extLst>
              <a:ext uri="{FF2B5EF4-FFF2-40B4-BE49-F238E27FC236}">
                <a16:creationId xmlns:a16="http://schemas.microsoft.com/office/drawing/2014/main" id="{77D4EDEA-CACC-4B35-A5FD-343ED0E89A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título Mestre</a:t>
            </a:r>
          </a:p>
        </p:txBody>
      </p:sp>
      <p:sp>
        <p:nvSpPr>
          <p:cNvPr id="1027" name="Espaço Reservado para Texto 2">
            <a:extLst>
              <a:ext uri="{FF2B5EF4-FFF2-40B4-BE49-F238E27FC236}">
                <a16:creationId xmlns:a16="http://schemas.microsoft.com/office/drawing/2014/main" id="{3E47DE05-9267-49D0-929B-B874559012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os estilos de texto Mestres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3"/>
            <a:r>
              <a:rPr lang="pt-BR" altLang="pt-BR"/>
              <a:t>Quarto nível</a:t>
            </a:r>
          </a:p>
          <a:p>
            <a:pPr lvl="4"/>
            <a:r>
              <a:rPr lang="pt-BR" alt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9D47411-213C-4A24-A115-2F843872FE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10998AB7-6241-4527-818B-1F510D3FF9C9}" type="datetimeFigureOut">
              <a:rPr lang="pt-BR"/>
              <a:pPr>
                <a:defRPr/>
              </a:pPr>
              <a:t>08/10/2026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2C4DAFF-9CD9-46A5-9816-EAB3A142CD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A60DC86-0528-45D8-A884-FD62E2029F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206AE7DB-D177-4AFD-9C5A-47E4B8C97508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fontAlgn="base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ítulo 1">
            <a:extLst>
              <a:ext uri="{FF2B5EF4-FFF2-40B4-BE49-F238E27FC236}">
                <a16:creationId xmlns:a16="http://schemas.microsoft.com/office/drawing/2014/main" id="{35EB6B86-5848-4EE5-B863-DD00F306704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endParaRPr lang="pt-BR" altLang="pt-BR" dirty="0"/>
          </a:p>
        </p:txBody>
      </p:sp>
      <p:sp>
        <p:nvSpPr>
          <p:cNvPr id="2051" name="Subtítulo 2">
            <a:extLst>
              <a:ext uri="{FF2B5EF4-FFF2-40B4-BE49-F238E27FC236}">
                <a16:creationId xmlns:a16="http://schemas.microsoft.com/office/drawing/2014/main" id="{EFAE6E1B-4A73-4637-B080-37FEF0FFBAE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endParaRPr lang="pt-BR" altLang="pt-BR" dirty="0"/>
          </a:p>
        </p:txBody>
      </p:sp>
      <p:pic>
        <p:nvPicPr>
          <p:cNvPr id="2052" name="Imagem 4" descr="Gráfico, Gráfico de funil&#10;&#10;Descrição gerada automaticamente">
            <a:extLst>
              <a:ext uri="{FF2B5EF4-FFF2-40B4-BE49-F238E27FC236}">
                <a16:creationId xmlns:a16="http://schemas.microsoft.com/office/drawing/2014/main" id="{876DEAEF-F5B3-4719-8ED0-6E0EC47C6A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3" name="Imagem 8" descr="Logotipo&#10;&#10;Descrição gerada automaticamente com confiança baixa">
            <a:extLst>
              <a:ext uri="{FF2B5EF4-FFF2-40B4-BE49-F238E27FC236}">
                <a16:creationId xmlns:a16="http://schemas.microsoft.com/office/drawing/2014/main" id="{AAD5FBF0-2170-4100-A44E-5DCD823B8C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1638" y="2763837"/>
            <a:ext cx="4433887" cy="133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ítulo 1">
            <a:extLst>
              <a:ext uri="{FF2B5EF4-FFF2-40B4-BE49-F238E27FC236}">
                <a16:creationId xmlns:a16="http://schemas.microsoft.com/office/drawing/2014/main" id="{D21B3ED0-D5BF-48AB-93CA-9B9E222924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3075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F7102E8A-CB45-4A10-AB16-9CFF74D6505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3076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41693" y="2237462"/>
            <a:ext cx="6265332" cy="17697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pt-BR" sz="3200" b="1" i="0" cap="all" dirty="0">
                <a:solidFill>
                  <a:srgbClr val="0B2545"/>
                </a:solidFill>
                <a:effectLst/>
                <a:latin typeface="Plus Jakarta Sans"/>
              </a:rPr>
              <a:t>Os Impactos da IA Generativa no Mercado de Trabalho de TI</a:t>
            </a:r>
          </a:p>
          <a:p>
            <a:pPr algn="ctr">
              <a:spcBef>
                <a:spcPct val="50000"/>
              </a:spcBef>
            </a:pPr>
            <a:endParaRPr lang="pt-BR" altLang="pt-BR" sz="3000" b="1" dirty="0">
              <a:solidFill>
                <a:srgbClr val="153553"/>
              </a:solidFill>
              <a:latin typeface="Verdana" panose="020B060403050404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8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7675" y="2237462"/>
            <a:ext cx="3234906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12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Profa. Isabella Luiza</a:t>
            </a:r>
          </a:p>
          <a:p>
            <a:pPr>
              <a:spcBef>
                <a:spcPct val="50000"/>
              </a:spcBef>
            </a:pPr>
            <a:endParaRPr lang="pt-BR" altLang="pt-BR" sz="1200" dirty="0">
              <a:solidFill>
                <a:srgbClr val="153553"/>
              </a:solidFill>
              <a:latin typeface="Verdana" panose="020B0604030504040204" pitchFamily="34" charset="0"/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</a:pPr>
            <a:r>
              <a:rPr lang="pt-BR" altLang="pt-BR" sz="1200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Isabela De Sena Alves</a:t>
            </a:r>
          </a:p>
          <a:p>
            <a:pPr>
              <a:spcBef>
                <a:spcPct val="50000"/>
              </a:spcBef>
            </a:pPr>
            <a:r>
              <a:rPr lang="pt-BR" altLang="pt-BR" sz="1200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Ryan Oliveira Trigo Santos</a:t>
            </a:r>
          </a:p>
          <a:p>
            <a:pPr>
              <a:spcBef>
                <a:spcPct val="50000"/>
              </a:spcBef>
            </a:pPr>
            <a:r>
              <a:rPr lang="pt-BR" altLang="pt-BR" sz="1200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Renan Oliveira Trigo Santos</a:t>
            </a:r>
          </a:p>
        </p:txBody>
      </p:sp>
      <p:sp>
        <p:nvSpPr>
          <p:cNvPr id="9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17085" y="5931073"/>
            <a:ext cx="304512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pt-BR" altLang="pt-BR" sz="1400" b="1" dirty="0">
                <a:solidFill>
                  <a:schemeClr val="bg1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Análise e Desenvolvimento de Sistemas</a:t>
            </a:r>
          </a:p>
        </p:txBody>
      </p:sp>
      <p:sp>
        <p:nvSpPr>
          <p:cNvPr id="10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97475" y="3622457"/>
            <a:ext cx="304512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pt-BR" sz="1000" b="1" i="0" dirty="0">
                <a:solidFill>
                  <a:srgbClr val="0B2545"/>
                </a:solidFill>
                <a:effectLst/>
                <a:latin typeface="Plus Jakarta Sans"/>
              </a:rPr>
              <a:t>Inteligência Artificial Generativa • Mercado de Trabalho • Tecnologia da Informação</a:t>
            </a:r>
            <a:endParaRPr lang="pt-BR" sz="1000" b="1" dirty="0">
              <a:solidFill>
                <a:srgbClr val="FF0000"/>
              </a:solidFill>
              <a:latin typeface="Verdana" panose="020B0604030504040204" pitchFamily="34" charset="0"/>
              <a:ea typeface="ＭＳ Ｐゴシック" panose="020B0600070205080204" pitchFamily="34" charset="-128"/>
            </a:endParaRPr>
          </a:p>
        </p:txBody>
      </p:sp>
      <p:pic>
        <p:nvPicPr>
          <p:cNvPr id="15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8344" y="5931073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tângulo 1"/>
          <p:cNvSpPr/>
          <p:nvPr/>
        </p:nvSpPr>
        <p:spPr>
          <a:xfrm>
            <a:off x="10215847" y="5254109"/>
            <a:ext cx="10855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pt-BR" altLang="pt-BR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2026.2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ítulo 1">
            <a:extLst>
              <a:ext uri="{FF2B5EF4-FFF2-40B4-BE49-F238E27FC236}">
                <a16:creationId xmlns:a16="http://schemas.microsoft.com/office/drawing/2014/main" id="{121518D1-64C1-44B9-8B7A-4F1039577A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409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0800000">
            <a:off x="0" y="0"/>
            <a:ext cx="12192000" cy="6858000"/>
          </a:xfrm>
        </p:spPr>
      </p:pic>
      <p:sp>
        <p:nvSpPr>
          <p:cNvPr id="4100" name="Rectangle 7">
            <a:extLst>
              <a:ext uri="{FF2B5EF4-FFF2-40B4-BE49-F238E27FC236}">
                <a16:creationId xmlns:a16="http://schemas.microsoft.com/office/drawing/2014/main" id="{D09F245C-E224-40FB-B22C-C183266847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0" y="1984376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SOMENTE TÓPICOS - PROBLEMÁTICA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SOMENTE TÓPICOS - JUSTIFICATIVA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410" y="606425"/>
            <a:ext cx="4262438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INTRODUÇÃO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7C83F4-C754-5493-758B-064E4E9F6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ítulo 1">
            <a:extLst>
              <a:ext uri="{FF2B5EF4-FFF2-40B4-BE49-F238E27FC236}">
                <a16:creationId xmlns:a16="http://schemas.microsoft.com/office/drawing/2014/main" id="{EAACA6E4-00F2-A955-1957-4F467F6213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409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74C8AAD2-BFF4-21B8-4A87-79E7FD0BB2D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0800000">
            <a:off x="0" y="0"/>
            <a:ext cx="12192000" cy="6858000"/>
          </a:xfrm>
        </p:spPr>
      </p:pic>
      <p:sp>
        <p:nvSpPr>
          <p:cNvPr id="4100" name="Rectangle 7">
            <a:extLst>
              <a:ext uri="{FF2B5EF4-FFF2-40B4-BE49-F238E27FC236}">
                <a16:creationId xmlns:a16="http://schemas.microsoft.com/office/drawing/2014/main" id="{55F3FA2C-B60D-0465-6983-3F4AE419EB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0" y="1984376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171450" indent="-171450">
              <a:buFont typeface="Wingdings" pitchFamily="2" charset="2"/>
              <a:buChar char="ü"/>
            </a:pPr>
            <a:r>
              <a:rPr lang="pt-BR" sz="1400" b="0" i="0" dirty="0">
                <a:solidFill>
                  <a:srgbClr val="0D0D0D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Analisar os impactos da Inteligência Artificial Generativa na rotina de trabalho e nas competências profissionais da área de Tecnologia da Informação (TI).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pt-BR" sz="1400" b="0" i="0" dirty="0">
                <a:solidFill>
                  <a:srgbClr val="0D0D0D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Mapear as principais ferramentas de IA Generativa utilizadas no desenvolvimento de software.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sz="1400" b="0" i="0" dirty="0">
                <a:solidFill>
                  <a:srgbClr val="0D0D0D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Identificar mudanças na produtividade e na rotina dos profissionais de TI.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sz="1400" b="0" i="0" dirty="0">
                <a:solidFill>
                  <a:srgbClr val="0D0D0D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Levantar as novas competências e habilidades exigidas pelo mercado de trabalho.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sz="1400" b="0" i="0" dirty="0">
                <a:solidFill>
                  <a:srgbClr val="0D0D0D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Sintetizar os desafios éticos e profissionais relacionados à automação de tarefas.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sz="1400" b="0" i="0" dirty="0">
                <a:solidFill>
                  <a:srgbClr val="0D0D0D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Analisar as preocupações relacionadas à substituição de empregos e às transformações nas carreiras em TI.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92303B23-9EE7-A945-ACCA-0ED7F78631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9">
            <a:extLst>
              <a:ext uri="{FF2B5EF4-FFF2-40B4-BE49-F238E27FC236}">
                <a16:creationId xmlns:a16="http://schemas.microsoft.com/office/drawing/2014/main" id="{3199D05E-CDE1-B4DE-09A7-4775D5F5CC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410" y="606425"/>
            <a:ext cx="4262438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INTRODUÇÃO</a:t>
            </a:r>
          </a:p>
        </p:txBody>
      </p:sp>
    </p:spTree>
    <p:extLst>
      <p:ext uri="{BB962C8B-B14F-4D97-AF65-F5344CB8AC3E}">
        <p14:creationId xmlns:p14="http://schemas.microsoft.com/office/powerpoint/2010/main" val="20284302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ítulo 1">
            <a:extLst>
              <a:ext uri="{FF2B5EF4-FFF2-40B4-BE49-F238E27FC236}">
                <a16:creationId xmlns:a16="http://schemas.microsoft.com/office/drawing/2014/main" id="{121518D1-64C1-44B9-8B7A-4F1039577A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409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</p:spPr>
      </p:pic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42550" y="6030911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0067" y="777875"/>
            <a:ext cx="5283202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pt-BR"/>
            </a:defPPr>
            <a:lvl1pPr>
              <a:spcBef>
                <a:spcPct val="50000"/>
              </a:spcBef>
              <a:defRPr sz="3000" b="1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/>
            <a:lvl3pPr marL="1143000" indent="-228600"/>
            <a:lvl4pPr marL="1600200" indent="-228600"/>
            <a:lvl5pPr marL="2057400" indent="-228600"/>
            <a:lvl6pPr marL="2514600" indent="-228600" fontAlgn="base">
              <a:spcBef>
                <a:spcPct val="0"/>
              </a:spcBef>
              <a:spcAft>
                <a:spcPct val="0"/>
              </a:spcAft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</a:lvl9pPr>
          </a:lstStyle>
          <a:p>
            <a:r>
              <a:rPr lang="pt-BR" altLang="pt-BR" dirty="0"/>
              <a:t>METODOLOGIA/MÉTODO DA PESQUISA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3C6B2C7A-E59D-5A67-500D-5262D5121C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0067" y="2719433"/>
            <a:ext cx="6130925" cy="7951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>
              <a:buFont typeface="Arial" panose="020B0604020202020204" pitchFamily="34" charset="0"/>
              <a:buChar char="•"/>
            </a:pPr>
            <a:r>
              <a:rPr lang="pt-BR" sz="1400" b="1" i="0" dirty="0">
                <a:solidFill>
                  <a:srgbClr val="0D0D0D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Abordagem:</a:t>
            </a:r>
            <a:r>
              <a:rPr lang="pt-BR" sz="1400" b="0" i="0" dirty="0">
                <a:solidFill>
                  <a:srgbClr val="0D0D0D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Qualitativa.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sz="1400" b="1" i="0" dirty="0">
                <a:solidFill>
                  <a:srgbClr val="0D0D0D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Natureza:</a:t>
            </a:r>
            <a:r>
              <a:rPr lang="pt-BR" sz="1400" b="0" i="0" dirty="0">
                <a:solidFill>
                  <a:srgbClr val="0D0D0D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Teórica e bibliográfica.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sz="1400" b="1" i="0" dirty="0">
                <a:solidFill>
                  <a:srgbClr val="0D0D0D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Procedimento:</a:t>
            </a:r>
            <a:r>
              <a:rPr lang="pt-BR" sz="1400" b="0" i="0" dirty="0">
                <a:solidFill>
                  <a:srgbClr val="0D0D0D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Revisão narrativa e crítica da literatura científica.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sz="1400" b="1" i="0" dirty="0">
                <a:solidFill>
                  <a:srgbClr val="0D0D0D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Fontes de pesquisa:</a:t>
            </a:r>
            <a:r>
              <a:rPr lang="pt-BR" sz="1400" b="0" i="0" dirty="0">
                <a:solidFill>
                  <a:srgbClr val="0D0D0D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Artigos científicos e estudos acadêmicos consultados em bases como Google Acadêmico e SciELO.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sz="1400" b="1" i="0" dirty="0">
                <a:solidFill>
                  <a:srgbClr val="0D0D0D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Critério temporal:</a:t>
            </a:r>
            <a:r>
              <a:rPr lang="pt-BR" sz="1400" b="0" i="0" dirty="0">
                <a:solidFill>
                  <a:srgbClr val="0D0D0D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Publicações a partir de 2019.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sz="1400" b="1" i="0" dirty="0">
                <a:solidFill>
                  <a:srgbClr val="0D0D0D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Foco da análise:</a:t>
            </a:r>
            <a:r>
              <a:rPr lang="pt-BR" sz="1400" b="0" i="0" dirty="0">
                <a:solidFill>
                  <a:srgbClr val="0D0D0D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Produtividade, automação de tarefas, competências profissionais e impactos da IA Generativa no mercado de trabalho de TI.</a:t>
            </a: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42703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410" y="606425"/>
            <a:ext cx="426243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FUNDAMENTAÇÃO TEÓRICA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01DEED65-4293-70B7-FE9D-9EBEBFE6AC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0" y="5413376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171450" indent="-171450">
              <a:buFont typeface="Wingdings" pitchFamily="2" charset="2"/>
              <a:buChar char="ü"/>
            </a:pPr>
            <a:endParaRPr lang="pt-BR" sz="1200" dirty="0">
              <a:latin typeface="Verdana" pitchFamily="34" charset="0"/>
              <a:ea typeface="Verdana" pitchFamily="34" charset="0"/>
            </a:endParaRPr>
          </a:p>
          <a:p>
            <a:pPr>
              <a:buNone/>
            </a:pPr>
            <a:endParaRPr lang="pt-BR" sz="12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200" dirty="0">
              <a:latin typeface="Verdana" pitchFamily="34" charset="0"/>
              <a:ea typeface="Verdana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7559F5F-C3BB-4F2A-BD0F-8C0D6D522D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318772"/>
            <a:ext cx="7079310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pt-BR" altLang="pt-B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Temática: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Inteligência Artificial Generativa e produtividade profissional</a:t>
            </a:r>
            <a:b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kumimoji="0" lang="pt-BR" altLang="pt-B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Pesquisadores: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kumimoji="0" lang="pt-BR" altLang="pt-B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Shakked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kumimoji="0" lang="pt-BR" altLang="pt-B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Noy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e Whitney Zhang (2023).</a:t>
            </a:r>
          </a:p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endParaRPr kumimoji="0" lang="pt-BR" altLang="pt-B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2. Temática: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Uso de assistentes de IA no desenvolvimento de software</a:t>
            </a:r>
            <a:b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kumimoji="0" lang="pt-BR" altLang="pt-B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Pesquisadores: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kumimoji="0" lang="pt-BR" altLang="pt-B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Shraddha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kumimoji="0" lang="pt-BR" altLang="pt-B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Barke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, Michael B. James e </a:t>
            </a:r>
            <a:r>
              <a:rPr kumimoji="0" lang="pt-BR" altLang="pt-B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Nadia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kumimoji="0" lang="pt-BR" altLang="pt-B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Polikarpova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(2023).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3. Temática: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Inteligência Artificial Generativa e transformações no mercado de trabalho</a:t>
            </a:r>
            <a:b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kumimoji="0" lang="pt-BR" altLang="pt-B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Pesquisadores: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kumimoji="0" lang="pt-BR" altLang="pt-B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Paweł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kumimoji="0" lang="pt-BR" altLang="pt-B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Gmyrek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, Janine Berg e David </a:t>
            </a:r>
            <a:r>
              <a:rPr kumimoji="0" lang="pt-BR" altLang="pt-B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Bescond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(2023).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4. Temática: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Competências profissionais e interação entre programadores e IA</a:t>
            </a:r>
            <a:b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kumimoji="0" lang="pt-BR" altLang="pt-B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Pesquisadores: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kumimoji="0" lang="pt-BR" altLang="pt-B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Shraddha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kumimoji="0" lang="pt-BR" altLang="pt-B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Barke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, Michael B. James e </a:t>
            </a:r>
            <a:r>
              <a:rPr kumimoji="0" lang="pt-BR" altLang="pt-B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Nadia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kumimoji="0" lang="pt-BR" altLang="pt-B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Polikarpova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(2023).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5. Temática: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Riscos sociais e éticos dos modelos de linguagem</a:t>
            </a:r>
            <a:b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kumimoji="0" lang="pt-BR" altLang="pt-B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Pesquisadores: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Laura </a:t>
            </a:r>
            <a:r>
              <a:rPr kumimoji="0" lang="pt-BR" altLang="pt-B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Weidinger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et al. (2022).</a:t>
            </a:r>
          </a:p>
        </p:txBody>
      </p:sp>
    </p:spTree>
    <p:extLst>
      <p:ext uri="{BB962C8B-B14F-4D97-AF65-F5344CB8AC3E}">
        <p14:creationId xmlns:p14="http://schemas.microsoft.com/office/powerpoint/2010/main" val="21493924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410" y="606425"/>
            <a:ext cx="426243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FUNDAMENTAÇÃO TEÓRICA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BF27EDCF-BF92-8A03-B585-1969DD1D71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0" y="5279667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4FCB2A3D-4826-48ED-802C-963795215E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61899"/>
            <a:ext cx="7035800" cy="3323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pt-BR" altLang="pt-B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Temática: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 futuro do desenvolvimento de software com IA Generativa</a:t>
            </a:r>
            <a:b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pt-BR" altLang="pt-B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Pesquisadores: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t-BR" altLang="pt-B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Jaakko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t-BR" altLang="pt-B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Sauvola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et al. (2024).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endParaRPr kumimoji="0" lang="pt-BR" altLang="pt-B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Temática: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IA Generativa e mudanças nas funções dos desenvolvedores</a:t>
            </a:r>
            <a:b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pt-BR" altLang="pt-B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Pesquisadores: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Nima S. Z. K. e colaboradores do estudo </a:t>
            </a:r>
            <a:r>
              <a:rPr kumimoji="0" lang="pt-BR" altLang="pt-BR" sz="14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Navigating</a:t>
            </a:r>
            <a:r>
              <a:rPr kumimoji="0" lang="pt-BR" altLang="pt-BR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Software </a:t>
            </a:r>
            <a:r>
              <a:rPr kumimoji="0" lang="pt-BR" altLang="pt-BR" sz="14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Development</a:t>
            </a:r>
            <a:r>
              <a:rPr kumimoji="0" lang="pt-BR" altLang="pt-BR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</a:t>
            </a:r>
            <a:r>
              <a:rPr kumimoji="0" lang="pt-BR" altLang="pt-BR" sz="14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pt-BR" altLang="pt-BR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t-BR" altLang="pt-BR" sz="14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ChatGPT</a:t>
            </a:r>
            <a:r>
              <a:rPr kumimoji="0" lang="pt-BR" altLang="pt-BR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t-BR" altLang="pt-BR" sz="14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</a:t>
            </a:r>
            <a:r>
              <a:rPr kumimoji="0" lang="pt-BR" altLang="pt-BR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GitHub </a:t>
            </a:r>
            <a:r>
              <a:rPr kumimoji="0" lang="pt-BR" altLang="pt-BR" sz="14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Copilot</a:t>
            </a:r>
            <a:r>
              <a:rPr kumimoji="0" lang="pt-BR" altLang="pt-BR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Era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(2024).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Temática: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Inteligência Artificial e competências para o futuro do trabalho</a:t>
            </a:r>
            <a:b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pt-BR" altLang="pt-B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Pesquisadores: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Sarah </a:t>
            </a:r>
            <a:r>
              <a:rPr kumimoji="0" lang="pt-BR" altLang="pt-B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Bankins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pt-BR" altLang="pt-B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Xinyu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Hu e </a:t>
            </a:r>
            <a:r>
              <a:rPr kumimoji="0" lang="pt-BR" altLang="pt-B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Yunyun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Yuan (2024).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 Temática: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Produtividade de desenvolvedores com assistentes de programação</a:t>
            </a:r>
            <a:b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pt-BR" altLang="pt-B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Pesquisadores: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Sida Peng, </a:t>
            </a:r>
            <a:r>
              <a:rPr kumimoji="0" lang="pt-BR" altLang="pt-B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Eirini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t-BR" altLang="pt-B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Kalliamvakou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Peter </a:t>
            </a:r>
            <a:r>
              <a:rPr kumimoji="0" lang="pt-BR" altLang="pt-B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Cihon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 </a:t>
            </a:r>
            <a:r>
              <a:rPr kumimoji="0" lang="pt-BR" altLang="pt-B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Mert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t-BR" altLang="pt-B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Demirer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(2023).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5. Temática: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Aplicações e desafios da IA Generativa na Engenharia de Software</a:t>
            </a:r>
            <a:b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pt-BR" altLang="pt-B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Pesquisadores: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t-BR" altLang="pt-B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Anh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Nguyen-Duc et al. (2023).</a:t>
            </a:r>
          </a:p>
        </p:txBody>
      </p:sp>
    </p:spTree>
    <p:extLst>
      <p:ext uri="{BB962C8B-B14F-4D97-AF65-F5344CB8AC3E}">
        <p14:creationId xmlns:p14="http://schemas.microsoft.com/office/powerpoint/2010/main" val="34724189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8112" y="6154737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8625" y="844550"/>
            <a:ext cx="426243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CONSIDERAÇÕES FINAIS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3BAA0655-280C-904A-F03E-0947DA8605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45055" y="5572514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0F5BB9EF-5D38-443D-BF4A-A3112F4CB1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49332" y="2154986"/>
            <a:ext cx="6942668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A Inteligência Artificial Generativa está transformando a rotina dos profissionais de Tecnologia da Informação.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A automação de tarefas repetitivas pode aumentar a produtividade no desenvolvimento de software.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O mercado de trabalho passa a exigir novas competências, como pensamento crítico, validação de códigos e conhecimentos em segurança.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A substituição de determinadas funções representa um desafio, especialmente para profissionais em início de carreira.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A formação continuada e a colaboração entre humanos e inteligência artificial são fundamentais para acompanhar as mudanças tecnológicas.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51970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ítulo 1">
            <a:extLst>
              <a:ext uri="{FF2B5EF4-FFF2-40B4-BE49-F238E27FC236}">
                <a16:creationId xmlns:a16="http://schemas.microsoft.com/office/drawing/2014/main" id="{121518D1-64C1-44B9-8B7A-4F1039577A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409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0800000">
            <a:off x="0" y="0"/>
            <a:ext cx="12192000" cy="6858000"/>
          </a:xfrm>
        </p:spPr>
      </p:pic>
      <p:sp>
        <p:nvSpPr>
          <p:cNvPr id="4100" name="Rectangle 7">
            <a:extLst>
              <a:ext uri="{FF2B5EF4-FFF2-40B4-BE49-F238E27FC236}">
                <a16:creationId xmlns:a16="http://schemas.microsoft.com/office/drawing/2014/main" id="{D09F245C-E224-40FB-B22C-C183266847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2" y="2146301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>
              <a:buNone/>
            </a:pPr>
            <a:endParaRPr lang="pt-BR" alt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706" y="844549"/>
            <a:ext cx="426243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REFERÊNCIA BIBLIOGRÁFICA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1F0C190-159D-491F-872C-6E28671598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189" y="2128830"/>
            <a:ext cx="5939092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•GMYREK, </a:t>
            </a:r>
            <a:r>
              <a:rPr kumimoji="0" lang="pt-BR" altLang="pt-B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Paweł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; BERG, Janine; BESCOND, David. </a:t>
            </a:r>
            <a:r>
              <a:rPr kumimoji="0" lang="pt-BR" altLang="pt-BR" sz="12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Generative</a:t>
            </a:r>
            <a:r>
              <a:rPr kumimoji="0" lang="pt-BR" altLang="pt-BR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AI </a:t>
            </a:r>
            <a:r>
              <a:rPr kumimoji="0" lang="pt-BR" altLang="pt-BR" sz="12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</a:t>
            </a:r>
            <a:r>
              <a:rPr kumimoji="0" lang="pt-BR" altLang="pt-BR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t-BR" altLang="pt-BR" sz="12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jobs</a:t>
            </a:r>
            <a:r>
              <a:rPr kumimoji="0" lang="pt-BR" altLang="pt-BR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a global </a:t>
            </a:r>
            <a:r>
              <a:rPr kumimoji="0" lang="pt-BR" altLang="pt-BR" sz="12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analysis</a:t>
            </a:r>
            <a:r>
              <a:rPr kumimoji="0" lang="pt-BR" altLang="pt-BR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t-BR" altLang="pt-BR" sz="12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</a:t>
            </a:r>
            <a:r>
              <a:rPr kumimoji="0" lang="pt-BR" altLang="pt-BR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t-BR" altLang="pt-BR" sz="12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potential</a:t>
            </a:r>
            <a:r>
              <a:rPr kumimoji="0" lang="pt-BR" altLang="pt-BR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t-BR" altLang="pt-BR" sz="12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effects</a:t>
            </a:r>
            <a:r>
              <a:rPr kumimoji="0" lang="pt-BR" altLang="pt-BR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t-BR" altLang="pt-BR" sz="12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</a:t>
            </a:r>
            <a:r>
              <a:rPr kumimoji="0" lang="pt-BR" altLang="pt-BR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t-BR" altLang="pt-BR" sz="12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job</a:t>
            </a:r>
            <a:r>
              <a:rPr kumimoji="0" lang="pt-BR" altLang="pt-BR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t-BR" altLang="pt-BR" sz="12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quantity</a:t>
            </a:r>
            <a:r>
              <a:rPr kumimoji="0" lang="pt-BR" altLang="pt-BR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t-BR" altLang="pt-BR" sz="12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</a:t>
            </a:r>
            <a:r>
              <a:rPr kumimoji="0" lang="pt-BR" altLang="pt-BR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t-BR" altLang="pt-BR" sz="12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quality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Geneva: </a:t>
            </a:r>
            <a:r>
              <a:rPr kumimoji="0" lang="pt-BR" altLang="pt-B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International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Labour </a:t>
            </a:r>
            <a:r>
              <a:rPr kumimoji="0" lang="pt-BR" altLang="pt-B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Organization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2023. Disponível em: https://doi.org/10.54394/FHEM8239. Acesso em: 8 out. 2026.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•NOY, </a:t>
            </a:r>
            <a:r>
              <a:rPr kumimoji="0" lang="pt-BR" altLang="pt-B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Shakked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; ZHANG, Whitney. Experimental </a:t>
            </a:r>
            <a:r>
              <a:rPr kumimoji="0" lang="pt-BR" altLang="pt-B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evidence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t-BR" altLang="pt-B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t-BR" altLang="pt-B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t-BR" altLang="pt-B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productivity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t-BR" altLang="pt-B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effects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t-BR" altLang="pt-B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t-BR" altLang="pt-B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generative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artificial </a:t>
            </a:r>
            <a:r>
              <a:rPr kumimoji="0" lang="pt-BR" altLang="pt-B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intelligence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  <a:r>
              <a:rPr kumimoji="0" lang="pt-BR" altLang="pt-BR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Science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v. 381, n. 6654, p. 187-192, 2023. Disponível em: https://doi.org/10.1126/science.adh2586. Acesso em: 8 out. 2026.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•PENG, Sida; KALLIAMVAKOU, </a:t>
            </a:r>
            <a:r>
              <a:rPr kumimoji="0" lang="pt-BR" altLang="pt-B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Eirini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; CIHON, Peter; DEMIRER, </a:t>
            </a:r>
            <a:r>
              <a:rPr kumimoji="0" lang="pt-BR" altLang="pt-B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Mert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  <a:r>
              <a:rPr kumimoji="0" lang="pt-BR" altLang="pt-BR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kumimoji="0" lang="pt-BR" altLang="pt-BR" sz="12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impact</a:t>
            </a:r>
            <a:r>
              <a:rPr kumimoji="0" lang="pt-BR" altLang="pt-BR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t-BR" altLang="pt-BR" sz="12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</a:t>
            </a:r>
            <a:r>
              <a:rPr kumimoji="0" lang="pt-BR" altLang="pt-BR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AI </a:t>
            </a:r>
            <a:r>
              <a:rPr kumimoji="0" lang="pt-BR" altLang="pt-BR" sz="12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</a:t>
            </a:r>
            <a:r>
              <a:rPr kumimoji="0" lang="pt-BR" altLang="pt-BR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t-BR" altLang="pt-BR" sz="12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developer</a:t>
            </a:r>
            <a:r>
              <a:rPr kumimoji="0" lang="pt-BR" altLang="pt-BR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t-BR" altLang="pt-BR" sz="12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productivity</a:t>
            </a:r>
            <a:r>
              <a:rPr kumimoji="0" lang="pt-BR" altLang="pt-BR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pt-BR" altLang="pt-BR" sz="12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evidence</a:t>
            </a:r>
            <a:r>
              <a:rPr kumimoji="0" lang="pt-BR" altLang="pt-BR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t-BR" altLang="pt-BR" sz="12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from</a:t>
            </a:r>
            <a:r>
              <a:rPr kumimoji="0" lang="pt-BR" altLang="pt-BR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GitHub </a:t>
            </a:r>
            <a:r>
              <a:rPr kumimoji="0" lang="pt-BR" altLang="pt-BR" sz="12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Copilot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2023. Disponível em: https://doi.org/10.48550/arXiv.2302.06590. Acesso em: 8 out. 2026.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•WEIDINGER, Laura et al. </a:t>
            </a:r>
            <a:r>
              <a:rPr kumimoji="0" lang="pt-BR" altLang="pt-B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Taxonomy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t-BR" altLang="pt-B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t-BR" altLang="pt-B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risks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t-BR" altLang="pt-B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posed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t-BR" altLang="pt-B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by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t-BR" altLang="pt-B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language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models. In: ACM CONFERENCE ON FAIRNESS, ACCOUNTABILITY, AND TRANSPARENCY, 2022. </a:t>
            </a:r>
            <a:r>
              <a:rPr kumimoji="0" lang="pt-BR" altLang="pt-BR" sz="12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Proceedings</a:t>
            </a:r>
            <a:r>
              <a:rPr kumimoji="0" lang="pt-BR" altLang="pt-BR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[...]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New York: </a:t>
            </a:r>
            <a:r>
              <a:rPr kumimoji="0" lang="pt-BR" altLang="pt-B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Association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</a:t>
            </a:r>
            <a:r>
              <a:rPr kumimoji="0" lang="pt-BR" altLang="pt-B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Computing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t-BR" altLang="pt-B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Machinery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2022. p. 214-229. Disponível em: https://doi.org/10.1145/3531146.3533088. Acesso em: 8 out. 2026.</a:t>
            </a:r>
          </a:p>
        </p:txBody>
      </p:sp>
    </p:spTree>
    <p:extLst>
      <p:ext uri="{BB962C8B-B14F-4D97-AF65-F5344CB8AC3E}">
        <p14:creationId xmlns:p14="http://schemas.microsoft.com/office/powerpoint/2010/main" val="12839842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ítulo 1">
            <a:extLst>
              <a:ext uri="{FF2B5EF4-FFF2-40B4-BE49-F238E27FC236}">
                <a16:creationId xmlns:a16="http://schemas.microsoft.com/office/drawing/2014/main" id="{EEF05124-4115-43F9-BCFF-F980C8F42D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5123" name="Espaço Reservado para Conteúdo 4" descr="Uma imagem contendo Retângulo&#10;&#10;Descrição gerada automaticamente">
            <a:extLst>
              <a:ext uri="{FF2B5EF4-FFF2-40B4-BE49-F238E27FC236}">
                <a16:creationId xmlns:a16="http://schemas.microsoft.com/office/drawing/2014/main" id="{8E1F7DDD-FF2A-43EE-909F-663635D2B2C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BFAC1EE-7CBD-46CA-8355-D2ADF8FFD9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2109" y="1856779"/>
            <a:ext cx="7154558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Agradecemos a todos que contribuíram para a realização deste trabalho, bem como aos professores pelos conhecimentos compartilhados. Esperamos que esta pesquisa contribua para a reflexão sobre os impactos da Inteligência Artificial Generativa no mercado de trabalho e na formação dos profissionais de Tecnologia da Informação.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ítulo 1">
            <a:extLst>
              <a:ext uri="{FF2B5EF4-FFF2-40B4-BE49-F238E27FC236}">
                <a16:creationId xmlns:a16="http://schemas.microsoft.com/office/drawing/2014/main" id="{EC112F46-5108-40C3-808D-99567C1815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7171" name="Espaço Reservado para Conteúdo 4" descr="Uma imagem contendo Forma&#10;&#10;Descrição gerada automaticamente">
            <a:extLst>
              <a:ext uri="{FF2B5EF4-FFF2-40B4-BE49-F238E27FC236}">
                <a16:creationId xmlns:a16="http://schemas.microsoft.com/office/drawing/2014/main" id="{3179E142-1D8E-4F12-A1B5-DEAE3BD929C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</p:spPr>
      </p:pic>
      <p:pic>
        <p:nvPicPr>
          <p:cNvPr id="7172" name="Imagem 6" descr="Logotipo&#10;&#10;Descrição gerada automaticamente com confiança baixa">
            <a:extLst>
              <a:ext uri="{FF2B5EF4-FFF2-40B4-BE49-F238E27FC236}">
                <a16:creationId xmlns:a16="http://schemas.microsoft.com/office/drawing/2014/main" id="{1FB7FF44-5FE7-4823-AD16-37782FFAD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6663" y="2763838"/>
            <a:ext cx="4433887" cy="133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1DAED1B117F6894D909B25A69A4597D2" ma:contentTypeVersion="11" ma:contentTypeDescription="Crie um novo documento." ma:contentTypeScope="" ma:versionID="fc0e1081098a96f1fc26b259e7bbb1c8">
  <xsd:schema xmlns:xsd="http://www.w3.org/2001/XMLSchema" xmlns:xs="http://www.w3.org/2001/XMLSchema" xmlns:p="http://schemas.microsoft.com/office/2006/metadata/properties" xmlns:ns2="0cd93fe2-0880-41f5-aab4-f958682b72cb" xmlns:ns3="18000554-2c77-4cf4-9366-a485aa9d7e35" targetNamespace="http://schemas.microsoft.com/office/2006/metadata/properties" ma:root="true" ma:fieldsID="f39cd65ee00b5e4c5dd2756fb7575f2f" ns2:_="" ns3:_="">
    <xsd:import namespace="0cd93fe2-0880-41f5-aab4-f958682b72cb"/>
    <xsd:import namespace="18000554-2c77-4cf4-9366-a485aa9d7e3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cd93fe2-0880-41f5-aab4-f958682b72c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8000554-2c77-4cf4-9366-a485aa9d7e35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EB3752F-42B6-452F-9AAE-531B3222458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cd93fe2-0880-41f5-aab4-f958682b72cb"/>
    <ds:schemaRef ds:uri="18000554-2c77-4cf4-9366-a485aa9d7e3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4661556-5590-415F-9315-F9BACBDA7B8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913</TotalTime>
  <Words>866</Words>
  <Application>Microsoft Office PowerPoint</Application>
  <PresentationFormat>Widescreen</PresentationFormat>
  <Paragraphs>72</Paragraphs>
  <Slides>11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8" baseType="lpstr">
      <vt:lpstr>Arial</vt:lpstr>
      <vt:lpstr>Calibri</vt:lpstr>
      <vt:lpstr>Calibri Light</vt:lpstr>
      <vt:lpstr>Plus Jakarta Sans</vt:lpstr>
      <vt:lpstr>Verdana</vt:lpstr>
      <vt:lpstr>Wingdings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Criação 04</dc:creator>
  <cp:lastModifiedBy>RYAN</cp:lastModifiedBy>
  <cp:revision>23</cp:revision>
  <dcterms:created xsi:type="dcterms:W3CDTF">2021-05-14T17:32:15Z</dcterms:created>
  <dcterms:modified xsi:type="dcterms:W3CDTF">2026-10-08T23:56:47Z</dcterms:modified>
</cp:coreProperties>
</file>